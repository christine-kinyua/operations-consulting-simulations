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64" r:id="rId5"/>
    <p:sldId id="265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6E04-DAB9-D566-BC32-CE27C374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6715-7602-C039-3758-0C49E1917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4800" dirty="0"/>
              <a:t>👏🏽</a:t>
            </a:r>
            <a:r>
              <a:rPr lang="en-US" sz="2800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We’re not just fixing workflow </a:t>
            </a:r>
            <a:r>
              <a:rPr lang="en-US" sz="4400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We’re solving </a:t>
            </a:r>
            <a:r>
              <a:rPr lang="en-US" sz="44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growth + compliance + survival</a:t>
            </a:r>
            <a:r>
              <a:rPr lang="en-US" sz="4400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problems.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FCD30-75AB-864B-C452-2E7D35977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000" b="1" dirty="0"/>
              <a:t>🏥 </a:t>
            </a:r>
            <a:r>
              <a:rPr lang="en-US" sz="2000" b="1" dirty="0">
                <a:solidFill>
                  <a:srgbClr val="002060"/>
                </a:solidFill>
              </a:rPr>
              <a:t>Operational Turnaround Simulation – A regional Private Hospital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DF73671E-1375-8E77-BA2F-AE770B5443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73645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BF93-CE54-35BE-43FF-A6AD5321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267E-E296-F64B-8938-037C6AAB6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058400" cy="2424755"/>
          </a:xfrm>
        </p:spPr>
        <p:txBody>
          <a:bodyPr anchor="ctr">
            <a:noAutofit/>
          </a:bodyPr>
          <a:lstStyle/>
          <a:p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📍 Situation Overview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The newly established private hospital is facing three major challenges: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1️⃣ 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Delays in obtaining required licenses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2️⃣ 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Low patient numbers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3️⃣ 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Operational inefficiencies increasing costs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This creates: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* Revenue pressure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* Staff idle time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* Cash flow strain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5A2C9-EBAA-5B30-5C8A-39B62FBCE405}"/>
              </a:ext>
            </a:extLst>
          </p:cNvPr>
          <p:cNvSpPr txBox="1"/>
          <p:nvPr/>
        </p:nvSpPr>
        <p:spPr>
          <a:xfrm>
            <a:off x="3935896" y="2035887"/>
            <a:ext cx="6097656" cy="35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👩🏽‍⚕️ Current Staff &amp; Costs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ED2BA3-1EF6-F176-E3A0-BA125EB73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980558"/>
              </p:ext>
            </p:extLst>
          </p:nvPr>
        </p:nvGraphicFramePr>
        <p:xfrm>
          <a:off x="3935896" y="2639282"/>
          <a:ext cx="3747052" cy="9772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9767">
                  <a:extLst>
                    <a:ext uri="{9D8B030D-6E8A-4147-A177-3AD203B41FA5}">
                      <a16:colId xmlns:a16="http://schemas.microsoft.com/office/drawing/2014/main" val="1853695792"/>
                    </a:ext>
                  </a:extLst>
                </a:gridCol>
                <a:gridCol w="785192">
                  <a:extLst>
                    <a:ext uri="{9D8B030D-6E8A-4147-A177-3AD203B41FA5}">
                      <a16:colId xmlns:a16="http://schemas.microsoft.com/office/drawing/2014/main" val="3632490283"/>
                    </a:ext>
                  </a:extLst>
                </a:gridCol>
                <a:gridCol w="1043608">
                  <a:extLst>
                    <a:ext uri="{9D8B030D-6E8A-4147-A177-3AD203B41FA5}">
                      <a16:colId xmlns:a16="http://schemas.microsoft.com/office/drawing/2014/main" val="1348162366"/>
                    </a:ext>
                  </a:extLst>
                </a:gridCol>
                <a:gridCol w="848485">
                  <a:extLst>
                    <a:ext uri="{9D8B030D-6E8A-4147-A177-3AD203B41FA5}">
                      <a16:colId xmlns:a16="http://schemas.microsoft.com/office/drawing/2014/main" val="5772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Role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Number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Salary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Total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0450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Nurses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40,000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240,000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6228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Receptionists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30,000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60,000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74376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Lab Technician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45,000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45,000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06823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Clinical Officer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70,000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70,000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581337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EA370D-27A0-4FA9-5029-01A814E34A22}"/>
              </a:ext>
            </a:extLst>
          </p:cNvPr>
          <p:cNvSpPr txBox="1"/>
          <p:nvPr/>
        </p:nvSpPr>
        <p:spPr>
          <a:xfrm>
            <a:off x="3935896" y="3931877"/>
            <a:ext cx="6122504" cy="286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Total Salary Cost:</a:t>
            </a: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</a:t>
            </a:r>
            <a:r>
              <a:rPr lang="en-US" sz="12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415,000</a:t>
            </a:r>
            <a:endParaRPr lang="en-US" sz="12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D3C34-9120-8FA5-1835-84328ECF1E5A}"/>
              </a:ext>
            </a:extLst>
          </p:cNvPr>
          <p:cNvSpPr txBox="1"/>
          <p:nvPr/>
        </p:nvSpPr>
        <p:spPr>
          <a:xfrm>
            <a:off x="3940866" y="4218559"/>
            <a:ext cx="6117534" cy="263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Other Monthly Costs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Supplies: 180,000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Utilities: 70,000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Admin &amp; waste: 55,000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Total Monthly Operating Cost:</a:t>
            </a: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</a:t>
            </a: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720,000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62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5FE4-2474-64A6-BCB4-6DC91900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0C41-7CD0-5D7E-5A06-490DD80F3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36283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OPERATIONAL PAIN POINTS &amp; CORRECTIVE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1BDCC-5460-A0EB-D000-E69C5CFEF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881" y="1162092"/>
            <a:ext cx="4639736" cy="73628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🚨 Key Problems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EA1B3C-C509-4CBD-01C3-609446EB11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3882058"/>
              </p:ext>
            </p:extLst>
          </p:nvPr>
        </p:nvGraphicFramePr>
        <p:xfrm>
          <a:off x="0" y="2165661"/>
          <a:ext cx="573722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8613">
                  <a:extLst>
                    <a:ext uri="{9D8B030D-6E8A-4147-A177-3AD203B41FA5}">
                      <a16:colId xmlns:a16="http://schemas.microsoft.com/office/drawing/2014/main" val="442991067"/>
                    </a:ext>
                  </a:extLst>
                </a:gridCol>
                <a:gridCol w="2868613">
                  <a:extLst>
                    <a:ext uri="{9D8B030D-6E8A-4147-A177-3AD203B41FA5}">
                      <a16:colId xmlns:a16="http://schemas.microsoft.com/office/drawing/2014/main" val="207740855"/>
                    </a:ext>
                  </a:extLst>
                </a:gridCol>
              </a:tblGrid>
              <a:tr h="110680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🔹 </a:t>
                      </a:r>
                      <a:r>
                        <a:rPr lang="en-US" sz="14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Low Patient Numbers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 referral partnerships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Poor appointment management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Long waiting times discouraging return visits</a:t>
                      </a:r>
                    </a:p>
                    <a:p>
                      <a:endParaRPr lang="en-US" sz="14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🔹 </a:t>
                      </a:r>
                      <a:r>
                        <a:rPr lang="en-US" sz="14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Inefficient Operations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Nurses doing admin work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Overtime due to poor shift planning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Supply waste</a:t>
                      </a:r>
                    </a:p>
                    <a:p>
                      <a:endParaRPr lang="en-US" sz="14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169018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E8F4F-C706-4F62-658C-EDF457723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7831" y="1162092"/>
            <a:ext cx="4639736" cy="73628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⚙️  Operational Intervention</a:t>
            </a:r>
          </a:p>
          <a:p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F0ADE21-12EA-0620-1495-F3992DAFD9E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944790177"/>
              </p:ext>
            </p:extLst>
          </p:nvPr>
        </p:nvGraphicFramePr>
        <p:xfrm>
          <a:off x="1569156" y="3663943"/>
          <a:ext cx="4638675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8675">
                  <a:extLst>
                    <a:ext uri="{9D8B030D-6E8A-4147-A177-3AD203B41FA5}">
                      <a16:colId xmlns:a16="http://schemas.microsoft.com/office/drawing/2014/main" val="92520864"/>
                    </a:ext>
                  </a:extLst>
                </a:gridCol>
              </a:tblGrid>
              <a:tr h="849174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🔹</a:t>
                      </a:r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Licensing Delays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Missing documentation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No clear follow-up system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Applications stuck for months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167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5B9079-F41A-7F66-7C91-238F0D26A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844197"/>
              </p:ext>
            </p:extLst>
          </p:nvPr>
        </p:nvGraphicFramePr>
        <p:xfrm>
          <a:off x="5976731" y="2156791"/>
          <a:ext cx="608099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497">
                  <a:extLst>
                    <a:ext uri="{9D8B030D-6E8A-4147-A177-3AD203B41FA5}">
                      <a16:colId xmlns:a16="http://schemas.microsoft.com/office/drawing/2014/main" val="315317726"/>
                    </a:ext>
                  </a:extLst>
                </a:gridCol>
                <a:gridCol w="3040497">
                  <a:extLst>
                    <a:ext uri="{9D8B030D-6E8A-4147-A177-3AD203B41FA5}">
                      <a16:colId xmlns:a16="http://schemas.microsoft.com/office/drawing/2014/main" val="2921091098"/>
                    </a:ext>
                  </a:extLst>
                </a:gridCol>
              </a:tblGrid>
              <a:tr h="3876261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1️⃣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 Patient Flow &amp; Experience Fix</a:t>
                      </a:r>
                    </a:p>
                    <a:p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Appointment scheduling system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Clear triage process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Reduced waiting time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Faster file handling</a:t>
                      </a:r>
                    </a:p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2️⃣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Patient Growth Support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Partnering with nearby pharmacies &amp; clinics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Basic marketing support (referral cards, signage, follow-up calls)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Tracking patient visits to spot trends</a:t>
                      </a:r>
                    </a:p>
                    <a:p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1" u="sng" kern="120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1" u="sng" kern="120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u="sng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Impact: Better patient experience → more return visits.</a:t>
                      </a:r>
                    </a:p>
                    <a:p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3️⃣ Licensing Process Coordination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I create: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A licensing checklist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Document tracking file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Follow-up schedule with authorities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Assigned responsible person per requirement</a:t>
                      </a:r>
                    </a:p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4️⃣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 Cost &amp; Staff Optimization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Shift restructuring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Reduced overtime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Nurses freed from admin tasks</a:t>
                      </a:r>
                      <a:b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Weekly stock control</a:t>
                      </a:r>
                    </a:p>
                    <a:p>
                      <a:endParaRPr lang="en-US" sz="1400" b="0" kern="120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  <a:p>
                      <a:r>
                        <a:rPr lang="en-US" sz="1400" b="1" i="1" u="sng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Impact: Reduced approval delays and prevented lost paperwork.</a:t>
                      </a:r>
                    </a:p>
                    <a:p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56236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B96416-6221-5515-0D22-4D2A33C19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55175"/>
              </p:ext>
            </p:extLst>
          </p:nvPr>
        </p:nvGraphicFramePr>
        <p:xfrm>
          <a:off x="5517182" y="1898374"/>
          <a:ext cx="208280" cy="4959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9127962"/>
                    </a:ext>
                  </a:extLst>
                </a:gridCol>
              </a:tblGrid>
              <a:tr h="49596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73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79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26C119-E2BB-0F8F-8337-58ACBC8AE327}"/>
              </a:ext>
            </a:extLst>
          </p:cNvPr>
          <p:cNvSpPr txBox="1"/>
          <p:nvPr/>
        </p:nvSpPr>
        <p:spPr>
          <a:xfrm>
            <a:off x="0" y="-19878"/>
            <a:ext cx="6097656" cy="35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📊 Simulated Results After 3 Months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FFE331-3C74-74BF-BE7F-88381F92A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354024"/>
              </p:ext>
            </p:extLst>
          </p:nvPr>
        </p:nvGraphicFramePr>
        <p:xfrm>
          <a:off x="0" y="455118"/>
          <a:ext cx="4767124" cy="11727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8185">
                  <a:extLst>
                    <a:ext uri="{9D8B030D-6E8A-4147-A177-3AD203B41FA5}">
                      <a16:colId xmlns:a16="http://schemas.microsoft.com/office/drawing/2014/main" val="892272156"/>
                    </a:ext>
                  </a:extLst>
                </a:gridCol>
                <a:gridCol w="934278">
                  <a:extLst>
                    <a:ext uri="{9D8B030D-6E8A-4147-A177-3AD203B41FA5}">
                      <a16:colId xmlns:a16="http://schemas.microsoft.com/office/drawing/2014/main" val="837859254"/>
                    </a:ext>
                  </a:extLst>
                </a:gridCol>
                <a:gridCol w="1192696">
                  <a:extLst>
                    <a:ext uri="{9D8B030D-6E8A-4147-A177-3AD203B41FA5}">
                      <a16:colId xmlns:a16="http://schemas.microsoft.com/office/drawing/2014/main" val="838980947"/>
                    </a:ext>
                  </a:extLst>
                </a:gridCol>
                <a:gridCol w="1311965">
                  <a:extLst>
                    <a:ext uri="{9D8B030D-6E8A-4147-A177-3AD203B41FA5}">
                      <a16:colId xmlns:a16="http://schemas.microsoft.com/office/drawing/2014/main" val="4046433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Area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Before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After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Improvement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884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Licensing Progress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Stalled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80% completed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Faster compliance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644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Avg. Wait Time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150 mins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75 mins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⬇ 50%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9889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Overtime Costs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60,000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25,000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⬇ 58%</a:t>
                      </a:r>
                      <a:endParaRPr lang="en-US" sz="1100" kern="10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0947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Supply Waste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50,000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Ksh 20,000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⬇ 60%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72321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Patients/Day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30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55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206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⬆ 83%</a:t>
                      </a:r>
                      <a:endParaRPr lang="en-US" sz="1100" kern="100" dirty="0">
                        <a:solidFill>
                          <a:srgbClr val="002060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118114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64B045-8093-19D1-8391-4FABBBF6307E}"/>
              </a:ext>
            </a:extLst>
          </p:cNvPr>
          <p:cNvSpPr txBox="1"/>
          <p:nvPr/>
        </p:nvSpPr>
        <p:spPr>
          <a:xfrm>
            <a:off x="0" y="1627836"/>
            <a:ext cx="6122504" cy="3623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💰 Financial Impact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Monthly Cost Savings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Overtime reduction: 35,000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Supply waste reduction: 30,000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Admin efficiency: 10,000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Total Savings:</a:t>
            </a: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</a:t>
            </a: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75,000 per month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Revenue Growth Potential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Average bill: Ksh 2,500</a:t>
            </a:r>
            <a:b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Extra patients per day: 25</a:t>
            </a:r>
            <a:b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6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25 × 2,500 × 26 days = </a:t>
            </a: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1,625,000 potential </a:t>
            </a:r>
            <a:r>
              <a:rPr lang="en-US" sz="1600" b="1" kern="1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more</a:t>
            </a:r>
            <a:r>
              <a:rPr lang="en-US" sz="16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revenue</a:t>
            </a:r>
            <a:endParaRPr lang="en-US" sz="1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10C61-BB5E-C315-DE97-6BCD1F14580A}"/>
              </a:ext>
            </a:extLst>
          </p:cNvPr>
          <p:cNvSpPr txBox="1"/>
          <p:nvPr/>
        </p:nvSpPr>
        <p:spPr>
          <a:xfrm>
            <a:off x="26504" y="5292455"/>
            <a:ext cx="12192000" cy="102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i="1" u="sng" kern="100" dirty="0">
                <a:solidFill>
                  <a:srgbClr val="00206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🧠 Impact Statement</a:t>
            </a:r>
            <a:endParaRPr lang="en-US" sz="1600" i="1" u="sng" kern="100" dirty="0">
              <a:solidFill>
                <a:srgbClr val="002060"/>
              </a:solidFill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i="1" kern="100" dirty="0">
                <a:solidFill>
                  <a:srgbClr val="00206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By coordinating licensing compliance, restructuring workflows, and improving patient flow systems, the hospital reduced operational waste, improved service delivery, and positioned itself for revenue growth — without increasing staffing costs.</a:t>
            </a:r>
          </a:p>
        </p:txBody>
      </p:sp>
    </p:spTree>
    <p:extLst>
      <p:ext uri="{BB962C8B-B14F-4D97-AF65-F5344CB8AC3E}">
        <p14:creationId xmlns:p14="http://schemas.microsoft.com/office/powerpoint/2010/main" val="322523615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97</TotalTime>
  <Words>470</Words>
  <Application>Microsoft Office PowerPoint</Application>
  <PresentationFormat>Widescreen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Bookman Old Style</vt:lpstr>
      <vt:lpstr>Calibri</vt:lpstr>
      <vt:lpstr>Franklin Gothic Book</vt:lpstr>
      <vt:lpstr>Helvetica</vt:lpstr>
      <vt:lpstr>Symbol</vt:lpstr>
      <vt:lpstr>Custom</vt:lpstr>
      <vt:lpstr>👏🏽We’re not just fixing workflow We’re solving growth + compliance + survival problems. </vt:lpstr>
      <vt:lpstr>📍 Situation Overview The newly established private hospital is facing three major challenges: 1️⃣ Delays in obtaining required licenses 2️⃣ Low patient numbers 3️⃣ Operational inefficiencies increasing costs This creates: * Revenue pressure * Staff idle time * Cash flow strain</vt:lpstr>
      <vt:lpstr>OPERATIONAL PAIN POINTS &amp; CORRECTIVE ACTIONS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Christine Kinyua</dc:creator>
  <cp:lastModifiedBy>Christine Kinyua</cp:lastModifiedBy>
  <cp:revision>1</cp:revision>
  <dcterms:created xsi:type="dcterms:W3CDTF">2026-02-02T06:37:20Z</dcterms:created>
  <dcterms:modified xsi:type="dcterms:W3CDTF">2026-02-02T08:14:35Z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