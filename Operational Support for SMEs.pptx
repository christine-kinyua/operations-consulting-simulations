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4" d="100"/>
          <a:sy n="64" d="100"/>
        </p:scale>
        <p:origin x="74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8814-E75C-4E8A-C9C0-FCFF9048F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7898" y="3338623"/>
            <a:ext cx="5811976" cy="2358934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SME GROWTH &amp; SURVIVAL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43C72-27EF-3A2C-B7B8-E6A1650F2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🏢 Operational Efficiency Simulation – Growing SME</a:t>
            </a:r>
          </a:p>
        </p:txBody>
      </p:sp>
    </p:spTree>
    <p:extLst>
      <p:ext uri="{BB962C8B-B14F-4D97-AF65-F5344CB8AC3E}">
        <p14:creationId xmlns:p14="http://schemas.microsoft.com/office/powerpoint/2010/main" val="124661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6D4284-C1B0-DB56-EFBB-3B32CDC5ECA2}"/>
              </a:ext>
            </a:extLst>
          </p:cNvPr>
          <p:cNvSpPr txBox="1"/>
          <p:nvPr/>
        </p:nvSpPr>
        <p:spPr>
          <a:xfrm>
            <a:off x="996802" y="0"/>
            <a:ext cx="6097772" cy="2816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📍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Scenario Overview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growing SME (retail + distribution business) has expanded quickly but is now experiencing operational strain.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Business Profile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 employees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Handles stock, sales, and deliveries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revenue: Ksh 2.4 million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C457F-1010-C618-B72B-BEFF97F27D9B}"/>
              </a:ext>
            </a:extLst>
          </p:cNvPr>
          <p:cNvSpPr txBox="1"/>
          <p:nvPr/>
        </p:nvSpPr>
        <p:spPr>
          <a:xfrm>
            <a:off x="1015409" y="3148789"/>
            <a:ext cx="6097772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💰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Current Monthly Operating Costs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1F0686-BE1D-8CA5-C0FD-F2759584F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829965"/>
              </p:ext>
            </p:extLst>
          </p:nvPr>
        </p:nvGraphicFramePr>
        <p:xfrm>
          <a:off x="1104052" y="3644720"/>
          <a:ext cx="2776832" cy="12950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1679">
                  <a:extLst>
                    <a:ext uri="{9D8B030D-6E8A-4147-A177-3AD203B41FA5}">
                      <a16:colId xmlns:a16="http://schemas.microsoft.com/office/drawing/2014/main" val="3466604547"/>
                    </a:ext>
                  </a:extLst>
                </a:gridCol>
                <a:gridCol w="1095153">
                  <a:extLst>
                    <a:ext uri="{9D8B030D-6E8A-4147-A177-3AD203B41FA5}">
                      <a16:colId xmlns:a16="http://schemas.microsoft.com/office/drawing/2014/main" val="36932143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Category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Cost (Ksh)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30174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Staff Salaries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780,000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6235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Rent &amp; Utilities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220,000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5332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Inventory Loss/Waste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160,000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089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Transport &amp; Fuel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190,000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4997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Admin/Printing/Errors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90,000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7195718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91F6D00-5EA6-A786-0F32-10BCDFE48CBA}"/>
              </a:ext>
            </a:extLst>
          </p:cNvPr>
          <p:cNvSpPr txBox="1"/>
          <p:nvPr/>
        </p:nvSpPr>
        <p:spPr>
          <a:xfrm>
            <a:off x="1015409" y="5045373"/>
            <a:ext cx="6097772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Monthly Operating Cost: Ksh 1,440,000</a:t>
            </a:r>
          </a:p>
        </p:txBody>
      </p:sp>
    </p:spTree>
    <p:extLst>
      <p:ext uri="{BB962C8B-B14F-4D97-AF65-F5344CB8AC3E}">
        <p14:creationId xmlns:p14="http://schemas.microsoft.com/office/powerpoint/2010/main" val="264469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1A04-A4E1-0BA9-F314-5F9B0664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513" y="758180"/>
            <a:ext cx="7223852" cy="552875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🚨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Key Operational Problems</a:t>
            </a:r>
            <a:b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E6E0C-0639-BB03-3B47-80EC297CC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5513" y="1414163"/>
            <a:ext cx="6983991" cy="1712770"/>
          </a:xfrm>
        </p:spPr>
        <p:txBody>
          <a:bodyPr>
            <a:noAutofit/>
          </a:bodyPr>
          <a:lstStyle/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Frequent stockouts of fast-moving items</a:t>
            </a:r>
            <a:b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Overstocking slow-moving products</a:t>
            </a:r>
            <a:b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Delivery delays and fuel wastage</a:t>
            </a:r>
            <a:b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Owner involved in daily firefighting</a:t>
            </a:r>
            <a:b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No clear task ownership among staff</a:t>
            </a:r>
            <a:b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❌ Manual record-keeping causing errors</a:t>
            </a:r>
          </a:p>
          <a:p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E8B8FB-A64A-F41B-2D4A-D5771D58A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22761"/>
              </p:ext>
            </p:extLst>
          </p:nvPr>
        </p:nvGraphicFramePr>
        <p:xfrm>
          <a:off x="1461365" y="3973229"/>
          <a:ext cx="4064000" cy="2884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79592352"/>
                    </a:ext>
                  </a:extLst>
                </a:gridCol>
              </a:tblGrid>
              <a:tr h="2884771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1️⃣ Inventory Control System</a:t>
                      </a:r>
                    </a:p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Weekly stock tracking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Fast/slow-moving item classification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Reorder level system</a:t>
                      </a:r>
                    </a:p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2️⃣ Delivery Route Optimization</a:t>
                      </a:r>
                    </a:p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Route planning schedule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Combined deliveries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Fuel tracking log</a:t>
                      </a:r>
                    </a:p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3️⃣ Role &amp; Task Structure</a:t>
                      </a:r>
                    </a:p>
                    <a:p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Clear staff responsibility chart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Daily task checklist</a:t>
                      </a:r>
                      <a:b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</a:br>
                      <a:r>
                        <a:rPr lang="en-US" sz="1400" b="0" dirty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✔ Supervisor follow-up system</a:t>
                      </a:r>
                    </a:p>
                    <a:p>
                      <a:endParaRPr lang="en-US" sz="1400" b="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4967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6D89D7-D5BE-6217-F859-7A1C39B8A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000908"/>
              </p:ext>
            </p:extLst>
          </p:nvPr>
        </p:nvGraphicFramePr>
        <p:xfrm>
          <a:off x="1461365" y="3230041"/>
          <a:ext cx="8128000" cy="46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995284267"/>
                    </a:ext>
                  </a:extLst>
                </a:gridCol>
              </a:tblGrid>
              <a:tr h="462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⚙️ Operational Interventions Introduced</a:t>
                      </a:r>
                      <a:endParaRPr lang="en-US" sz="2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762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B22FB2-391A-C946-0C70-AB42066DC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409545"/>
              </p:ext>
            </p:extLst>
          </p:nvPr>
        </p:nvGraphicFramePr>
        <p:xfrm>
          <a:off x="5656521" y="3973229"/>
          <a:ext cx="3932845" cy="2884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2845">
                  <a:extLst>
                    <a:ext uri="{9D8B030D-6E8A-4147-A177-3AD203B41FA5}">
                      <a16:colId xmlns:a16="http://schemas.microsoft.com/office/drawing/2014/main" val="853802636"/>
                    </a:ext>
                  </a:extLst>
                </a:gridCol>
              </a:tblGrid>
              <a:tr h="2884771"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4️⃣ Simple Digital Tools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Google Sheets for stock</a:t>
                      </a:r>
                      <a:b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Shared task tracker</a:t>
                      </a:r>
                      <a:b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Sales &amp; expense tracking dashboard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5️⃣ Owner Time Recovery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Delegated daily approvals</a:t>
                      </a:r>
                      <a:b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</a:br>
                      <a:r>
                        <a:rPr lang="en-US" sz="1400" b="0" kern="1200" dirty="0">
                          <a:solidFill>
                            <a:schemeClr val="lt1"/>
                          </a:solidFill>
                          <a:effectLst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✔ Weekly review system instead of daily interruptions</a:t>
                      </a:r>
                    </a:p>
                    <a:p>
                      <a:endParaRPr lang="en-US" sz="1400" b="0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39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61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9E6E06-18D0-8A79-B65C-93CA45319208}"/>
              </a:ext>
            </a:extLst>
          </p:cNvPr>
          <p:cNvSpPr txBox="1"/>
          <p:nvPr/>
        </p:nvSpPr>
        <p:spPr>
          <a:xfrm>
            <a:off x="1003852" y="0"/>
            <a:ext cx="6124988" cy="416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📊 Simulated Results After 3 Months</a:t>
            </a:r>
            <a:endParaRPr lang="en-US" sz="2000" kern="10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ED4A03-C85E-41E8-C31D-265DFF318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36777"/>
              </p:ext>
            </p:extLst>
          </p:nvPr>
        </p:nvGraphicFramePr>
        <p:xfrm>
          <a:off x="1003852" y="577458"/>
          <a:ext cx="4015063" cy="12691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9489">
                  <a:extLst>
                    <a:ext uri="{9D8B030D-6E8A-4147-A177-3AD203B41FA5}">
                      <a16:colId xmlns:a16="http://schemas.microsoft.com/office/drawing/2014/main" val="2012870073"/>
                    </a:ext>
                  </a:extLst>
                </a:gridCol>
                <a:gridCol w="745435">
                  <a:extLst>
                    <a:ext uri="{9D8B030D-6E8A-4147-A177-3AD203B41FA5}">
                      <a16:colId xmlns:a16="http://schemas.microsoft.com/office/drawing/2014/main" val="803274079"/>
                    </a:ext>
                  </a:extLst>
                </a:gridCol>
                <a:gridCol w="795130">
                  <a:extLst>
                    <a:ext uri="{9D8B030D-6E8A-4147-A177-3AD203B41FA5}">
                      <a16:colId xmlns:a16="http://schemas.microsoft.com/office/drawing/2014/main" val="198187450"/>
                    </a:ext>
                  </a:extLst>
                </a:gridCol>
                <a:gridCol w="815009">
                  <a:extLst>
                    <a:ext uri="{9D8B030D-6E8A-4147-A177-3AD203B41FA5}">
                      <a16:colId xmlns:a16="http://schemas.microsoft.com/office/drawing/2014/main" val="2679079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Area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Before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After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Impact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4968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Inventory Loss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160,000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70,000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56%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040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Fuel &amp; Delivery Costs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190,000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140,000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26%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17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Admin Errors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90,000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35,000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61%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494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Owner Time in Ops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 hrs/day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 hrs/day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⬇ 67%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542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Monthly Revenue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2.4M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2.8M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⬆ 17%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344167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062BC1-AF63-E791-6AFA-793656B72E8A}"/>
              </a:ext>
            </a:extLst>
          </p:cNvPr>
          <p:cNvSpPr txBox="1"/>
          <p:nvPr/>
        </p:nvSpPr>
        <p:spPr>
          <a:xfrm>
            <a:off x="1017518" y="2059638"/>
            <a:ext cx="6097656" cy="301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💰 Financial Impact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Monthly Cost Savings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Inventory control: </a:t>
            </a: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90,000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Transport optimization: </a:t>
            </a: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50,000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Admin efficiency: </a:t>
            </a: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55,000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Total Monthly Savings:</a:t>
            </a: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195,000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Additional Revenue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Better stock availability → more sales</a:t>
            </a:r>
            <a:b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</a:br>
            <a:r>
              <a:rPr lang="en-US" sz="1400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Increase: </a:t>
            </a:r>
            <a:r>
              <a:rPr lang="en-US" sz="1400" b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Ksh 400,000 per month</a:t>
            </a:r>
            <a:endParaRPr lang="en-US" sz="1400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D0CC5-DA4D-2D7D-FE51-37929448118D}"/>
              </a:ext>
            </a:extLst>
          </p:cNvPr>
          <p:cNvSpPr txBox="1"/>
          <p:nvPr/>
        </p:nvSpPr>
        <p:spPr>
          <a:xfrm>
            <a:off x="1017518" y="5291928"/>
            <a:ext cx="10352846" cy="102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u="sng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🧠 </a:t>
            </a:r>
            <a:r>
              <a:rPr lang="en-US" sz="1600" b="1" i="1" u="sng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Impact Statement</a:t>
            </a:r>
            <a:endParaRPr lang="en-US" sz="1600" i="1" u="sng" kern="100" dirty="0">
              <a:effectLst/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i="1" kern="100" dirty="0">
                <a:effectLst/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By introducing structured inventory control, delivery planning, and role clarity, the business reduced operational waste, improved staff accountability, and increased revenue without adding new staff.</a:t>
            </a:r>
          </a:p>
        </p:txBody>
      </p:sp>
    </p:spTree>
    <p:extLst>
      <p:ext uri="{BB962C8B-B14F-4D97-AF65-F5344CB8AC3E}">
        <p14:creationId xmlns:p14="http://schemas.microsoft.com/office/powerpoint/2010/main" val="2548031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{E9B36F06-AAA6-40F1-B52F-46B9D4A2B71B}TF37254b02-f5b5-44b0-803d-e6af9466a024d8712c6d-28d3f990fef7</Template>
  <TotalTime>31</TotalTime>
  <Words>361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Calibri</vt:lpstr>
      <vt:lpstr>Helvetica</vt:lpstr>
      <vt:lpstr>MS Shell Dlg 2</vt:lpstr>
      <vt:lpstr>Segoe UI Emoji</vt:lpstr>
      <vt:lpstr>Symbol</vt:lpstr>
      <vt:lpstr>Wingdings</vt:lpstr>
      <vt:lpstr>Wingdings 3</vt:lpstr>
      <vt:lpstr>Madison</vt:lpstr>
      <vt:lpstr>SME GROWTH &amp; SURVIVAL STRATEGY</vt:lpstr>
      <vt:lpstr>PowerPoint Presentation</vt:lpstr>
      <vt:lpstr>🚨 Key Operational Problems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 Kinyua</dc:creator>
  <cp:lastModifiedBy>Christine Kinyua</cp:lastModifiedBy>
  <cp:revision>1</cp:revision>
  <dcterms:created xsi:type="dcterms:W3CDTF">2026-02-02T08:49:26Z</dcterms:created>
  <dcterms:modified xsi:type="dcterms:W3CDTF">2026-02-02T09:20:58Z</dcterms:modified>
</cp:coreProperties>
</file>