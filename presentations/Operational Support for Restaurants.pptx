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effectLst/>
              </a:rPr>
              <a:t>🍽️ Operational Efficiency Simulation – Mid-Size Urban Restaurant</a:t>
            </a:r>
            <a:endParaRPr lang="en-US" sz="4400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i="1" dirty="0"/>
              <a:t>“Operational Clarity. Cost Control. Better Performance.”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918CD9-A702-4F67-EE8C-76E76686DE15}"/>
              </a:ext>
            </a:extLst>
          </p:cNvPr>
          <p:cNvSpPr txBox="1"/>
          <p:nvPr/>
        </p:nvSpPr>
        <p:spPr>
          <a:xfrm>
            <a:off x="0" y="0"/>
            <a:ext cx="6097656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Staffing</a:t>
            </a:r>
            <a:endParaRPr lang="en-US" sz="3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8EE783-AA7A-D20E-7EB2-C60E5FEA5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884822"/>
              </p:ext>
            </p:extLst>
          </p:nvPr>
        </p:nvGraphicFramePr>
        <p:xfrm>
          <a:off x="0" y="506897"/>
          <a:ext cx="3200401" cy="18784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4199">
                  <a:extLst>
                    <a:ext uri="{9D8B030D-6E8A-4147-A177-3AD203B41FA5}">
                      <a16:colId xmlns:a16="http://schemas.microsoft.com/office/drawing/2014/main" val="1210554079"/>
                    </a:ext>
                  </a:extLst>
                </a:gridCol>
                <a:gridCol w="650929">
                  <a:extLst>
                    <a:ext uri="{9D8B030D-6E8A-4147-A177-3AD203B41FA5}">
                      <a16:colId xmlns:a16="http://schemas.microsoft.com/office/drawing/2014/main" val="558470709"/>
                    </a:ext>
                  </a:extLst>
                </a:gridCol>
                <a:gridCol w="881467">
                  <a:extLst>
                    <a:ext uri="{9D8B030D-6E8A-4147-A177-3AD203B41FA5}">
                      <a16:colId xmlns:a16="http://schemas.microsoft.com/office/drawing/2014/main" val="214386719"/>
                    </a:ext>
                  </a:extLst>
                </a:gridCol>
                <a:gridCol w="623806">
                  <a:extLst>
                    <a:ext uri="{9D8B030D-6E8A-4147-A177-3AD203B41FA5}">
                      <a16:colId xmlns:a16="http://schemas.microsoft.com/office/drawing/2014/main" val="376459001"/>
                    </a:ext>
                  </a:extLst>
                </a:gridCol>
              </a:tblGrid>
              <a:tr h="313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Role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Number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Salary (Ksh)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Total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0328791"/>
                  </a:ext>
                </a:extLst>
              </a:tr>
              <a:tr h="313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Head Cook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35,000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35,000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1463616"/>
                  </a:ext>
                </a:extLst>
              </a:tr>
              <a:tr h="313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Assistant Cooks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22,000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44,000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1952954"/>
                  </a:ext>
                </a:extLst>
              </a:tr>
              <a:tr h="313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Waitstaff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18,000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54,000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273818"/>
                  </a:ext>
                </a:extLst>
              </a:tr>
              <a:tr h="313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Cashier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20,000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20,000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1541274"/>
                  </a:ext>
                </a:extLst>
              </a:tr>
              <a:tr h="313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Supervisor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32,000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32,000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629189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CBEE21-7DFC-24C5-8EAD-204A5ED1ADA4}"/>
              </a:ext>
            </a:extLst>
          </p:cNvPr>
          <p:cNvSpPr txBox="1"/>
          <p:nvPr/>
        </p:nvSpPr>
        <p:spPr>
          <a:xfrm>
            <a:off x="0" y="2500127"/>
            <a:ext cx="6122504" cy="207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Total Monthly Salary Cost: ≈ Ksh 185,000</a:t>
            </a:r>
            <a:endParaRPr lang="en-US" sz="3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Let’s round for allowances &amp; casual help:</a:t>
            </a:r>
            <a:endParaRPr lang="en-US" sz="3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👉 </a:t>
            </a: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Adjusted Staff Cost: Ksh 250,000</a:t>
            </a:r>
            <a:endParaRPr lang="en-US" sz="3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 </a:t>
            </a:r>
            <a:endParaRPr lang="en-US" sz="3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💰 Other Monthly Operating Costs</a:t>
            </a:r>
            <a:endParaRPr lang="en-US" sz="3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79A5B3C-A040-B689-0C54-D6E9886A2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687682"/>
              </p:ext>
            </p:extLst>
          </p:nvPr>
        </p:nvGraphicFramePr>
        <p:xfrm>
          <a:off x="-1" y="4574990"/>
          <a:ext cx="3279913" cy="1527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6392">
                  <a:extLst>
                    <a:ext uri="{9D8B030D-6E8A-4147-A177-3AD203B41FA5}">
                      <a16:colId xmlns:a16="http://schemas.microsoft.com/office/drawing/2014/main" val="1872393618"/>
                    </a:ext>
                  </a:extLst>
                </a:gridCol>
                <a:gridCol w="1103521">
                  <a:extLst>
                    <a:ext uri="{9D8B030D-6E8A-4147-A177-3AD203B41FA5}">
                      <a16:colId xmlns:a16="http://schemas.microsoft.com/office/drawing/2014/main" val="1840794688"/>
                    </a:ext>
                  </a:extLst>
                </a:gridCol>
              </a:tblGrid>
              <a:tr h="3055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Category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Cost (Ksh)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97190461"/>
                  </a:ext>
                </a:extLst>
              </a:tr>
              <a:tr h="3055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Food Supplies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420,000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3411099"/>
                  </a:ext>
                </a:extLst>
              </a:tr>
              <a:tr h="3055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Utilities (gas, electricity, water)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70,000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2794475"/>
                  </a:ext>
                </a:extLst>
              </a:tr>
              <a:tr h="3055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Food Wastage &amp; Spoilage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65,000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8426589"/>
                  </a:ext>
                </a:extLst>
              </a:tr>
              <a:tr h="3055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Cleaning &amp; Misc. Admin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35,000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91901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A1626DD-F379-67FF-0C42-376798AAC45A}"/>
              </a:ext>
            </a:extLst>
          </p:cNvPr>
          <p:cNvSpPr txBox="1"/>
          <p:nvPr/>
        </p:nvSpPr>
        <p:spPr>
          <a:xfrm>
            <a:off x="0" y="6157231"/>
            <a:ext cx="6122504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Total Monthly Operating Cost (Before):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840,000</a:t>
            </a:r>
            <a:endParaRPr lang="en-US" sz="36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FA392-515D-2F14-7CA3-84C19E673B47}"/>
              </a:ext>
            </a:extLst>
          </p:cNvPr>
          <p:cNvSpPr txBox="1"/>
          <p:nvPr/>
        </p:nvSpPr>
        <p:spPr>
          <a:xfrm>
            <a:off x="6069496" y="0"/>
            <a:ext cx="6122504" cy="240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🚨 Key Operational Problems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❌ Cooking too much food that doesn’t sell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❌ Ingredients expiring due to poor stock rotation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❌ Slow service during rush hours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❌ Staff confusion about responsibilities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❌ Gas usage higher than necessary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❌ No tracking of profitable vs low-margin dishes</a:t>
            </a:r>
          </a:p>
        </p:txBody>
      </p:sp>
    </p:spTree>
    <p:extLst>
      <p:ext uri="{BB962C8B-B14F-4D97-AF65-F5344CB8AC3E}">
        <p14:creationId xmlns:p14="http://schemas.microsoft.com/office/powerpoint/2010/main" val="50895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18392-DE4E-30F4-D9D8-9268EBF5D5F8}"/>
              </a:ext>
            </a:extLst>
          </p:cNvPr>
          <p:cNvSpPr txBox="1"/>
          <p:nvPr/>
        </p:nvSpPr>
        <p:spPr>
          <a:xfrm>
            <a:off x="0" y="0"/>
            <a:ext cx="4658627" cy="55952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100" dirty="0">
                <a:solidFill>
                  <a:schemeClr val="bg1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⚙️ Operational Interventions Introduced</a:t>
            </a:r>
            <a:endParaRPr lang="en-US" kern="100" dirty="0">
              <a:solidFill>
                <a:schemeClr val="bg1"/>
              </a:solidFill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Food Cost &amp; Stock Control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FIFO storage system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Daily prep planning based on demand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Weekly stock count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Reduce low-selling menu items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Kitchen Workflow Improvements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Cooking stations assigned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Pre-rush prep checklist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Batch cooking for popular meals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Staff Coordination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Clear shift duty chart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Peak-hour task assignments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Defined service flow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Utility Cost Control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Gas usage tracking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Equipment shutdown checklist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Revenue Support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Promote high-margin dishes</a:t>
            </a:r>
            <a:b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2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✔ Faster service → more table turnover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FF106-B4DB-C982-D3B4-87B9F30AA590}"/>
              </a:ext>
            </a:extLst>
          </p:cNvPr>
          <p:cNvSpPr txBox="1"/>
          <p:nvPr/>
        </p:nvSpPr>
        <p:spPr>
          <a:xfrm>
            <a:off x="6069496" y="0"/>
            <a:ext cx="6122504" cy="39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📊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Simulated Results After 3 Months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727A4B-F4E9-F79E-7228-7695DCFB3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098297"/>
              </p:ext>
            </p:extLst>
          </p:nvPr>
        </p:nvGraphicFramePr>
        <p:xfrm>
          <a:off x="6096000" y="589192"/>
          <a:ext cx="4542183" cy="13022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258567975"/>
                    </a:ext>
                  </a:extLst>
                </a:gridCol>
                <a:gridCol w="815009">
                  <a:extLst>
                    <a:ext uri="{9D8B030D-6E8A-4147-A177-3AD203B41FA5}">
                      <a16:colId xmlns:a16="http://schemas.microsoft.com/office/drawing/2014/main" val="3220905909"/>
                    </a:ext>
                  </a:extLst>
                </a:gridCol>
                <a:gridCol w="934278">
                  <a:extLst>
                    <a:ext uri="{9D8B030D-6E8A-4147-A177-3AD203B41FA5}">
                      <a16:colId xmlns:a16="http://schemas.microsoft.com/office/drawing/2014/main" val="3266258002"/>
                    </a:ext>
                  </a:extLst>
                </a:gridCol>
                <a:gridCol w="1192696">
                  <a:extLst>
                    <a:ext uri="{9D8B030D-6E8A-4147-A177-3AD203B41FA5}">
                      <a16:colId xmlns:a16="http://schemas.microsoft.com/office/drawing/2014/main" val="3082825574"/>
                    </a:ext>
                  </a:extLst>
                </a:gridCol>
              </a:tblGrid>
              <a:tr h="2170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Area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Before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After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Impact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8949051"/>
                  </a:ext>
                </a:extLst>
              </a:tr>
              <a:tr h="2170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Food Wastage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65,000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25,000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⬇ 62%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8669826"/>
                  </a:ext>
                </a:extLst>
              </a:tr>
              <a:tr h="2170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Utility Costs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70,000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55,000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⬇ 21%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94595350"/>
                  </a:ext>
                </a:extLst>
              </a:tr>
              <a:tr h="2170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Avg. Service Time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35 min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20 min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⬇ 43%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5023323"/>
                  </a:ext>
                </a:extLst>
              </a:tr>
              <a:tr h="2170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Customers/Day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110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⬆ 29%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8617788"/>
                  </a:ext>
                </a:extLst>
              </a:tr>
              <a:tr h="2170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Food Cost % of Revenue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50%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40%</a:t>
                      </a:r>
                      <a:endParaRPr lang="en-US" sz="12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Improved margins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997178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0EE403-66E4-DA66-F10E-1F5DB552CF43}"/>
              </a:ext>
            </a:extLst>
          </p:cNvPr>
          <p:cNvSpPr txBox="1"/>
          <p:nvPr/>
        </p:nvSpPr>
        <p:spPr>
          <a:xfrm>
            <a:off x="6069496" y="2090342"/>
            <a:ext cx="6122504" cy="3977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💰 Financial Impact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Monthly Cost Savings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Wastage reduction: </a:t>
            </a: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40,000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Utility savings: </a:t>
            </a: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15,000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Reduced over-prep: </a:t>
            </a: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20,000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Total Monthly Savings:</a:t>
            </a: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</a:t>
            </a: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75,000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Revenue Increase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Extra 25 customers/day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Average spend: Ksh </a:t>
            </a:r>
            <a:r>
              <a:rPr lang="en-US" kern="1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50</a:t>
            </a: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0</a:t>
            </a:r>
            <a:b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25 × </a:t>
            </a:r>
            <a:r>
              <a:rPr lang="en-US" kern="1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50</a:t>
            </a:r>
            <a:r>
              <a:rPr lang="en-US" sz="18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0 × 26 days = </a:t>
            </a: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</a:t>
            </a:r>
            <a:r>
              <a:rPr lang="en-US" b="1" kern="1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3</a:t>
            </a:r>
            <a:r>
              <a:rPr lang="en-US" sz="18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25,500 additional revenue</a:t>
            </a:r>
            <a:endParaRPr lang="en-US" sz="18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20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B640-6A7B-579A-D3F0-8C5E70E9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11148" cy="785191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b="1" i="1" u="sng" dirty="0">
                <a:solidFill>
                  <a:schemeClr val="accent2"/>
                </a:solidFill>
                <a:effectLst/>
              </a:rPr>
              <a:t>🧠 Impact Statement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91F4E-411C-16A8-3211-9E59AB20F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3974"/>
            <a:ext cx="10885951" cy="4112959"/>
          </a:xfrm>
        </p:spPr>
        <p:txBody>
          <a:bodyPr>
            <a:normAutofit/>
          </a:bodyPr>
          <a:lstStyle/>
          <a:p>
            <a:pPr algn="l"/>
            <a:r>
              <a:rPr lang="en-US" sz="2400" i="1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By introducing food cost controls, structured kitchen workflows, and clearer staff coordination, the restaurant reduced waste, lowered operating costs, improved service speed, and increased customer volume — without increasing staffing.</a:t>
            </a:r>
          </a:p>
          <a:p>
            <a:pPr algn="l"/>
            <a:endParaRPr lang="en-U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3926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{811B23FE-BD35-4791-B381-5E0FCBEAB6EB}TFe887d8cf-77a9-48cd-9a74-d8d08097a61c3993dec7_win32-329aa78f548b</Template>
  <TotalTime>32</TotalTime>
  <Words>403</Words>
  <Application>Microsoft Office PowerPoint</Application>
  <PresentationFormat>Widescreen</PresentationFormat>
  <Paragraphs>91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Goudy Old Style</vt:lpstr>
      <vt:lpstr>Helvetica</vt:lpstr>
      <vt:lpstr>Segoe UI Emoji</vt:lpstr>
      <vt:lpstr>Symbol</vt:lpstr>
      <vt:lpstr>Wingdings 2</vt:lpstr>
      <vt:lpstr>SlateVTI</vt:lpstr>
      <vt:lpstr>🍽️ Operational Efficiency Simulation – Mid-Size Urban Restaurant</vt:lpstr>
      <vt:lpstr>PowerPoint Presentation</vt:lpstr>
      <vt:lpstr>PowerPoint Presentation</vt:lpstr>
      <vt:lpstr>🧠 Impact Statement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Christine Kinyua</dc:creator>
  <cp:lastModifiedBy>Christine Kinyua</cp:lastModifiedBy>
  <cp:revision>1</cp:revision>
  <dcterms:created xsi:type="dcterms:W3CDTF">2026-02-02T12:14:02Z</dcterms:created>
  <dcterms:modified xsi:type="dcterms:W3CDTF">2026-02-02T12:46:23Z</dcterms:modified>
</cp:coreProperties>
</file>