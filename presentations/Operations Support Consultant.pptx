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0"/>
  </p:notesMasterIdLst>
  <p:handoutMasterIdLst>
    <p:handoutMasterId r:id="rId11"/>
  </p:handoutMasterIdLst>
  <p:sldIdLst>
    <p:sldId id="312" r:id="rId5"/>
    <p:sldId id="304" r:id="rId6"/>
    <p:sldId id="282" r:id="rId7"/>
    <p:sldId id="314" r:id="rId8"/>
    <p:sldId id="315" r:id="rId9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>
      <p:cViewPr varScale="1">
        <p:scale>
          <a:sx n="60" d="100"/>
          <a:sy n="60" d="100"/>
        </p:scale>
        <p:origin x="908" y="4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>
                <a:solidFill>
                  <a:schemeClr val="accent1">
                    <a:lumMod val="25000"/>
                  </a:schemeClr>
                </a:solidFill>
              </a:rPr>
              <a:t>Independent Operations Support </a:t>
            </a:r>
            <a:r>
              <a:rPr lang="en-US" sz="1800" b="0" i="1" u="sng" dirty="0">
                <a:solidFill>
                  <a:schemeClr val="accent1">
                    <a:lumMod val="25000"/>
                  </a:schemeClr>
                </a:solidFill>
              </a:rPr>
              <a:t>for Growing &amp; Cost-Conscious Businesses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WHERE I step 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✔ A business just started and is overwhelmed</a:t>
            </a:r>
          </a:p>
          <a:p>
            <a:r>
              <a:rPr lang="en-US" dirty="0"/>
              <a:t>✔ A business is spending too much</a:t>
            </a:r>
          </a:p>
          <a:p>
            <a:r>
              <a:rPr lang="en-US" dirty="0"/>
              <a:t>✔ The owner is doing everything themselves</a:t>
            </a:r>
          </a:p>
          <a:p>
            <a:r>
              <a:rPr lang="en-US" dirty="0"/>
              <a:t>✔ Operations are messy, slow, or unstructured</a:t>
            </a:r>
          </a:p>
          <a:p>
            <a:endParaRPr lang="en-US" dirty="0"/>
          </a:p>
          <a:p>
            <a:r>
              <a:rPr lang="en-US" b="1" i="1" dirty="0">
                <a:solidFill>
                  <a:schemeClr val="accent1">
                    <a:lumMod val="25000"/>
                  </a:schemeClr>
                </a:solidFill>
              </a:rPr>
              <a:t>I bring order, efficiency, and cost control.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797" y="46496"/>
            <a:ext cx="7965461" cy="994164"/>
          </a:xfrm>
        </p:spPr>
        <p:txBody>
          <a:bodyPr/>
          <a:lstStyle/>
          <a:p>
            <a:r>
              <a:rPr lang="en-US" dirty="0"/>
              <a:t>ROLE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56798" y="1040660"/>
            <a:ext cx="4662709" cy="3497698"/>
          </a:xfrm>
        </p:spPr>
        <p:txBody>
          <a:bodyPr/>
          <a:lstStyle/>
          <a:p>
            <a:r>
              <a:rPr lang="en-US" dirty="0"/>
              <a:t>✔ Set up workflows</a:t>
            </a:r>
          </a:p>
          <a:p>
            <a:r>
              <a:rPr lang="en-US" dirty="0"/>
              <a:t>✔ Define roles</a:t>
            </a:r>
          </a:p>
          <a:p>
            <a:r>
              <a:rPr lang="en-US" dirty="0"/>
              <a:t>✔ Create simple systems</a:t>
            </a:r>
          </a:p>
          <a:p>
            <a:r>
              <a:rPr lang="en-US" dirty="0"/>
              <a:t>✔ Organize admin &amp; daily processes</a:t>
            </a:r>
          </a:p>
          <a:p>
            <a:r>
              <a:rPr lang="en-US" dirty="0"/>
              <a:t>✔ Choose tools (Google Drive, Trello, etc.)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953EBDB-010A-C697-BDDE-804B22010EA3}"/>
              </a:ext>
            </a:extLst>
          </p:cNvPr>
          <p:cNvSpPr txBox="1">
            <a:spLocks/>
          </p:cNvSpPr>
          <p:nvPr/>
        </p:nvSpPr>
        <p:spPr>
          <a:xfrm>
            <a:off x="7420805" y="3333545"/>
            <a:ext cx="4662709" cy="2409625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✔ Communication</a:t>
            </a:r>
          </a:p>
          <a:p>
            <a:r>
              <a:rPr lang="en-US" dirty="0"/>
              <a:t>✔ Task coordination</a:t>
            </a:r>
          </a:p>
          <a:p>
            <a:r>
              <a:rPr lang="en-US" dirty="0"/>
              <a:t>✔ Follow-ups</a:t>
            </a:r>
          </a:p>
          <a:p>
            <a:r>
              <a:rPr lang="en-US" dirty="0"/>
              <a:t>✔ Process improvements</a:t>
            </a:r>
          </a:p>
          <a:p>
            <a:r>
              <a:rPr lang="en-US" dirty="0"/>
              <a:t>✔ Staff coordination assistance</a:t>
            </a:r>
          </a:p>
          <a:p>
            <a:r>
              <a:rPr lang="en-US" dirty="0"/>
              <a:t>✔ Making sure work actually gets done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C4A41C8-245B-637D-8CFA-A28737F847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476299"/>
              </p:ext>
            </p:extLst>
          </p:nvPr>
        </p:nvGraphicFramePr>
        <p:xfrm>
          <a:off x="2556798" y="6312392"/>
          <a:ext cx="9713174" cy="5181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9713174">
                  <a:extLst>
                    <a:ext uri="{9D8B030D-6E8A-4147-A177-3AD203B41FA5}">
                      <a16:colId xmlns:a16="http://schemas.microsoft.com/office/drawing/2014/main" val="39894565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i="1" dirty="0">
                          <a:solidFill>
                            <a:schemeClr val="accent1">
                              <a:lumMod val="25000"/>
                            </a:schemeClr>
                          </a:solidFill>
                        </a:rPr>
                        <a:t>Outcome: Owner focuses on growth, not daily chaos.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838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157" y="842234"/>
            <a:ext cx="7043617" cy="653538"/>
          </a:xfrm>
        </p:spPr>
        <p:txBody>
          <a:bodyPr/>
          <a:lstStyle/>
          <a:p>
            <a:r>
              <a:rPr lang="en-US" sz="2400" dirty="0"/>
              <a:t>Cost-Cutting Operations Review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52157" y="2150071"/>
            <a:ext cx="7043618" cy="2233233"/>
          </a:xfrm>
        </p:spPr>
        <p:txBody>
          <a:bodyPr/>
          <a:lstStyle/>
          <a:p>
            <a:r>
              <a:rPr lang="en-US" dirty="0"/>
              <a:t>✔ Review expenses</a:t>
            </a:r>
          </a:p>
          <a:p>
            <a:r>
              <a:rPr lang="en-US" dirty="0"/>
              <a:t>✔ Identify waste</a:t>
            </a:r>
          </a:p>
          <a:p>
            <a:r>
              <a:rPr lang="en-US" dirty="0"/>
              <a:t>✔ Simplify processes</a:t>
            </a:r>
          </a:p>
          <a:p>
            <a:r>
              <a:rPr lang="en-US" dirty="0"/>
              <a:t>✔ Suggest cheaper tools or methods</a:t>
            </a:r>
          </a:p>
          <a:p>
            <a:r>
              <a:rPr lang="en-US" dirty="0"/>
              <a:t>✔ Improve staff productivity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973" y="71959"/>
            <a:ext cx="7796464" cy="770480"/>
          </a:xfrm>
        </p:spPr>
        <p:txBody>
          <a:bodyPr/>
          <a:lstStyle/>
          <a:p>
            <a:r>
              <a:rPr lang="en-US" dirty="0"/>
              <a:t>SERVICE CHARGES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1005856"/>
            <a:ext cx="3283119" cy="4554972"/>
          </a:xfrm>
        </p:spPr>
        <p:txBody>
          <a:bodyPr>
            <a:noAutofit/>
          </a:bodyPr>
          <a:lstStyle/>
          <a:p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🔹 One-Time Setup (New Businesses)</a:t>
            </a:r>
          </a:p>
          <a:p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Ksh 25,000 – 60,000</a:t>
            </a:r>
          </a:p>
          <a:p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Depending on size and complexity.</a:t>
            </a:r>
          </a:p>
          <a:p>
            <a:endParaRPr lang="en-U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🔹 Cost-Cutting Review</a:t>
            </a:r>
          </a:p>
          <a:p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Ksh 15,000 – 40,000</a:t>
            </a:r>
          </a:p>
          <a:p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Short engagement (2–3 weeks)</a:t>
            </a:r>
          </a:p>
          <a:p>
            <a:endParaRPr lang="en-U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🔹 Monthly Operations Support</a:t>
            </a:r>
          </a:p>
          <a:p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Ksh 35,000 – 90,000 per month</a:t>
            </a:r>
          </a:p>
          <a:p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Depending on workload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C9AFDCD-EDBB-FE08-B7A4-092D26064A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1023039"/>
              </p:ext>
            </p:extLst>
          </p:nvPr>
        </p:nvGraphicFramePr>
        <p:xfrm>
          <a:off x="0" y="5848955"/>
          <a:ext cx="8888819" cy="10668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8888819">
                  <a:extLst>
                    <a:ext uri="{9D8B030D-6E8A-4147-A177-3AD203B41FA5}">
                      <a16:colId xmlns:a16="http://schemas.microsoft.com/office/drawing/2014/main" val="3008035739"/>
                    </a:ext>
                  </a:extLst>
                </a:gridCol>
              </a:tblGrid>
              <a:tr h="937085">
                <a:tc>
                  <a:txBody>
                    <a:bodyPr/>
                    <a:lstStyle/>
                    <a:p>
                      <a:r>
                        <a:rPr lang="en-US" sz="3200" i="1" dirty="0">
                          <a:solidFill>
                            <a:schemeClr val="accent1">
                              <a:lumMod val="25000"/>
                            </a:schemeClr>
                          </a:solidFill>
                        </a:rPr>
                        <a:t>“An investment that strengthens your operations, reduces inefficiencies, and delivers lasting value.”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50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{BD0535C5-89E7-4C0D-A767-54C94391448E}TF8a9b5915-b8c7-461e-8cdd-693d48b5e32371f7b7e2_win32-4bf0b9a2ea37</Template>
  <TotalTime>26</TotalTime>
  <Words>202</Words>
  <Application>Microsoft Office PowerPoint</Application>
  <PresentationFormat>Widescreen</PresentationFormat>
  <Paragraphs>44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Calibri</vt:lpstr>
      <vt:lpstr>Helvetica</vt:lpstr>
      <vt:lpstr>Sabon Next LT</vt:lpstr>
      <vt:lpstr>Custom</vt:lpstr>
      <vt:lpstr>Independent Operations Support for Growing &amp; Cost-Conscious Businesses</vt:lpstr>
      <vt:lpstr>WHERE I step in</vt:lpstr>
      <vt:lpstr>ROLE DESCRIPTION</vt:lpstr>
      <vt:lpstr>Cost-Cutting Operations Review</vt:lpstr>
      <vt:lpstr>SERVICE CHARGES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Christine Kinyua</dc:creator>
  <cp:lastModifiedBy>Christine Kinyua</cp:lastModifiedBy>
  <cp:revision>2</cp:revision>
  <dcterms:created xsi:type="dcterms:W3CDTF">2026-01-29T06:17:50Z</dcterms:created>
  <dcterms:modified xsi:type="dcterms:W3CDTF">2026-01-29T06:43:51Z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